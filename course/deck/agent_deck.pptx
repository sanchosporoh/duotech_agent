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1\AppData\Roaming\Claude\local-agent-mode-sessions\skills-plugin\8ef7bff0-8766-413f-811a-33353097c79b\2def231b-836c-444a-8398-f62454ae1964\skills\ns-digital-pptx\assets\ns_digital_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457200"/>
            <a:ext cx="2194560" cy="5669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331720"/>
            <a:ext cx="12188952" cy="2514600"/>
          </a:xfrm>
          <a:prstGeom prst="rect">
            <a:avLst/>
          </a:prstGeom>
          <a:solidFill>
            <a:srgbClr val="3C3C3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2423160"/>
            <a:ext cx="7498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АГЕНТ КОНТРОЛЯ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ДОБЫЧИ КУСТА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48640" y="40233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Недобор нефти найден и рассчитан за 1.5 часа вместо 10</a:t>
            </a:r>
            <a:endParaRPr lang="en-US" sz="1800" dirty="0"/>
          </a:p>
        </p:txBody>
      </p:sp>
      <p:pic>
        <p:nvPicPr>
          <p:cNvPr id="6" name="Image 1" descr="C:\Users\User1\AppData\Roaming\Claude\local-agent-mode-sessions\skills-plugin\8ef7bff0-8766-413f-811a-33353097c79b\2def231b-836c-444a-8398-f62454ae1964\skills\ns-digital-pptx\assets\lineart_refinery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r="0" t="0" b="0"/>
          <a:stretch/>
        </p:blipFill>
        <p:spPr>
          <a:xfrm>
            <a:off x="8138160" y="822960"/>
            <a:ext cx="3749040" cy="5486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6A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Паспорт агента · Блок 3 «Agentic Workflow» · октябрь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0"/>
            <a:ext cx="1051560" cy="6858000"/>
          </a:xfrm>
          <a:prstGeom prst="rect">
            <a:avLst/>
          </a:prstGeom>
          <a:solidFill>
            <a:srgbClr val="41008C"/>
          </a:solidFill>
          <a:ln/>
        </p:spPr>
      </p:sp>
      <p:pic>
        <p:nvPicPr>
          <p:cNvPr id="3" name="Image 0" descr="C:\Users\User1\AppData\Roaming\Claude\local-agent-mode-sessions\skills-plugin\8ef7bff0-8766-413f-811a-33353097c79b\2def231b-836c-444a-8398-f62454ae1964\skills\ns-digital-pptx\assets\ns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48288" y="256032"/>
            <a:ext cx="438912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241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7A6A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11480" y="16459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1008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NS Digital</a:t>
            </a:r>
            <a:pPr indent="0" marL="0">
              <a:buNone/>
            </a:pPr>
            <a:r>
              <a:rPr lang="en-US" sz="3200" dirty="0">
                <a:solidFill>
                  <a:srgbClr val="19003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 / Проблема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11480" y="868680"/>
            <a:ext cx="9966960" cy="0"/>
          </a:xfrm>
          <a:prstGeom prst="line">
            <a:avLst/>
          </a:prstGeom>
          <a:noFill/>
          <a:ln w="9525">
            <a:solidFill>
              <a:srgbClr val="A7A6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9601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9003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НЕДОБОР ЗАМЕЧАЮТ И СЧИТАЮТ ВРУЧНУЮ — КОМПЕНСАЦИЯ НАЧИНАЕТСЯ ЧЕРЕЗ 18 ЧАСОВ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11480" y="1828800"/>
            <a:ext cx="2377440" cy="27432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2011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1008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18 ч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548640" y="310896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003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от обнаружения отклонения до действия на скважинах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971800" y="1828800"/>
            <a:ext cx="2377440" cy="27432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2" name="Text 9"/>
          <p:cNvSpPr/>
          <p:nvPr/>
        </p:nvSpPr>
        <p:spPr>
          <a:xfrm>
            <a:off x="3108960" y="2011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1008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10 ч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3108960" y="310896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003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из них — обнаружение отклонения и ручной расчёт в PetEx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532120" y="1828800"/>
            <a:ext cx="2377440" cy="27432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Text 12"/>
          <p:cNvSpPr/>
          <p:nvPr/>
        </p:nvSpPr>
        <p:spPr>
          <a:xfrm>
            <a:off x="5669280" y="2011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D00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10.7 т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5669280" y="310896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003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нескомпенсированной нефти на один инцидент — 213 тыс. руб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092440" y="1828800"/>
            <a:ext cx="2377440" cy="27432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0" y="20116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1008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552 мин</a:t>
            </a:r>
            <a:endParaRPr lang="en-US" sz="4000" dirty="0"/>
          </a:p>
        </p:txBody>
      </p:sp>
      <p:sp>
        <p:nvSpPr>
          <p:cNvPr id="19" name="Text 16"/>
          <p:cNvSpPr/>
          <p:nvPr/>
        </p:nvSpPr>
        <p:spPr>
          <a:xfrm>
            <a:off x="8229600" y="310896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003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 неделю инженера-моделиста на проверке гипотез и расчёте режима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11480" y="5669280"/>
            <a:ext cx="10149840" cy="640080"/>
          </a:xfrm>
          <a:prstGeom prst="roundRect">
            <a:avLst>
              <a:gd name="adj" fmla="val 17143"/>
            </a:avLst>
          </a:prstGeom>
          <a:solidFill>
            <a:srgbClr val="00DD00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56692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Потеря нефти растёт каждый час, пока отклонение ждёт человека и ручного расчёта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11480" y="63550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6A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Источник: отчёт по диагностическому аудиту бизнес-процессов Заказчика (18 ч / 10 ч). Нефть — расчёт на учебном кейсе: потеря 14.2 т/сут × 18 ч / 24, 20 000 руб/т.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0"/>
            <a:ext cx="1051560" cy="6858000"/>
          </a:xfrm>
          <a:prstGeom prst="rect">
            <a:avLst/>
          </a:prstGeom>
          <a:solidFill>
            <a:srgbClr val="41008C"/>
          </a:solidFill>
          <a:ln/>
        </p:spPr>
      </p:sp>
      <p:pic>
        <p:nvPicPr>
          <p:cNvPr id="3" name="Image 0" descr="C:\Users\User1\AppData\Roaming\Claude\local-agent-mode-sessions\skills-plugin\8ef7bff0-8766-413f-811a-33353097c79b\2def231b-836c-444a-8398-f62454ae1964\skills\ns-digital-pptx\assets\ns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48288" y="256032"/>
            <a:ext cx="438912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241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7A6A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11480" y="16459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1008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NS Digital</a:t>
            </a:r>
            <a:pPr indent="0" marL="0">
              <a:buNone/>
            </a:pPr>
            <a:r>
              <a:rPr lang="en-US" sz="3200" dirty="0">
                <a:solidFill>
                  <a:srgbClr val="19003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 / Как сейчас (As-Is)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11480" y="868680"/>
            <a:ext cx="9966960" cy="0"/>
          </a:xfrm>
          <a:prstGeom prst="line">
            <a:avLst/>
          </a:prstGeom>
          <a:noFill/>
          <a:ln w="9525">
            <a:solidFill>
              <a:srgbClr val="A7A6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9601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9003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УЗКОЕ МЕСТО — РУЧНАЯ ПРОВЕРКА ГИПОТЕЗ И РАСЧЁТ РЕЖИМА: 46 % ВРЕМЕНИ</a:t>
            </a:r>
            <a:endParaRPr lang="en-US" sz="1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691640"/>
          <a:ext cx="1014984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4572000"/>
                <a:gridCol w="1828800"/>
                <a:gridCol w="731520"/>
                <a:gridCol w="1051560"/>
                <a:gridCol w="1554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9003C"/>
                          </a:solidFill>
                          <a:latin typeface="Golos Text DemiBold" pitchFamily="34" charset="0"/>
                          <a:ea typeface="Golos Text DemiBold" pitchFamily="34" charset="-122"/>
                          <a:cs typeface="Golos Text DemiBold" pitchFamily="34" charset="-120"/>
                        </a:rPr>
                        <a:t>№</a:t>
                      </a:r>
                      <a:endParaRPr lang="en-US" sz="1200" dirty="0">
                        <a:latin typeface="Golos Text DemiBold" charset="0"/>
                        <a:ea typeface="Golos Text DemiBold" charset="0"/>
                        <a:cs typeface="Golos Text D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9003C"/>
                          </a:solidFill>
                          <a:latin typeface="Golos Text DemiBold" pitchFamily="34" charset="0"/>
                          <a:ea typeface="Golos Text DemiBold" pitchFamily="34" charset="-122"/>
                          <a:cs typeface="Golos Text DemiBold" pitchFamily="34" charset="-120"/>
                        </a:rPr>
                        <a:t>Шаг</a:t>
                      </a:r>
                      <a:endParaRPr lang="en-US" sz="1200" dirty="0">
                        <a:latin typeface="Golos Text DemiBold" charset="0"/>
                        <a:ea typeface="Golos Text DemiBold" charset="0"/>
                        <a:cs typeface="Golos Text D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9003C"/>
                          </a:solidFill>
                          <a:latin typeface="Golos Text DemiBold" pitchFamily="34" charset="0"/>
                          <a:ea typeface="Golos Text DemiBold" pitchFamily="34" charset="-122"/>
                          <a:cs typeface="Golos Text DemiBold" pitchFamily="34" charset="-120"/>
                        </a:rPr>
                        <a:t>Кто</a:t>
                      </a:r>
                      <a:endParaRPr lang="en-US" sz="1200" dirty="0">
                        <a:latin typeface="Golos Text DemiBold" charset="0"/>
                        <a:ea typeface="Golos Text DemiBold" charset="0"/>
                        <a:cs typeface="Golos Text D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9003C"/>
                          </a:solidFill>
                          <a:latin typeface="Golos Text DemiBold" pitchFamily="34" charset="0"/>
                          <a:ea typeface="Golos Text DemiBold" pitchFamily="34" charset="-122"/>
                          <a:cs typeface="Golos Text DemiBold" pitchFamily="34" charset="-120"/>
                        </a:rPr>
                        <a:t>Мин</a:t>
                      </a:r>
                      <a:endParaRPr lang="en-US" sz="1200" dirty="0">
                        <a:latin typeface="Golos Text DemiBold" charset="0"/>
                        <a:ea typeface="Golos Text DemiBold" charset="0"/>
                        <a:cs typeface="Golos Text D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9003C"/>
                          </a:solidFill>
                          <a:latin typeface="Golos Text DemiBold" pitchFamily="34" charset="0"/>
                          <a:ea typeface="Golos Text DemiBold" pitchFamily="34" charset="-122"/>
                          <a:cs typeface="Golos Text DemiBold" pitchFamily="34" charset="-120"/>
                        </a:rPr>
                        <a:t>Раз / нед</a:t>
                      </a:r>
                      <a:endParaRPr lang="en-US" sz="1200" dirty="0">
                        <a:latin typeface="Golos Text DemiBold" charset="0"/>
                        <a:ea typeface="Golos Text DemiBold" charset="0"/>
                        <a:cs typeface="Golos Text D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9003C"/>
                          </a:solidFill>
                          <a:latin typeface="Golos Text DemiBold" pitchFamily="34" charset="0"/>
                          <a:ea typeface="Golos Text DemiBold" pitchFamily="34" charset="-122"/>
                          <a:cs typeface="Golos Text DemiBold" pitchFamily="34" charset="-120"/>
                        </a:rPr>
                        <a:t>Потеря, мин / нед</a:t>
                      </a:r>
                      <a:endParaRPr lang="en-US" sz="1200" dirty="0">
                        <a:latin typeface="Golos Text DemiBold" charset="0"/>
                        <a:ea typeface="Golos Text DemiBold" charset="0"/>
                        <a:cs typeface="Golos Text D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0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Двухчасовка с добычей по сепаратору — отклонение видно только при просмотре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регламент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—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—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—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1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Выгрузить телеметрию и замеры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инженер, скрипт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20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5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100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2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Отбраковать замеры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скрипт + инженер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60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5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300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3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Сформулировать гипотезы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технолог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60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2.3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138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4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6C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Проверить гипотезы расчётом в ИМА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6C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инженер-моделист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6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120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6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2.3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6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276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6C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5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6C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Рассчитать режим куста и утвердить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6C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моделист, технолог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6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120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6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2.3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6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276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6C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6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Согласовать с цехом, внести уставки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начальник ЦДНГ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20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2.3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46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7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Сравнить факт с прогнозом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скрипт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15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5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9003C"/>
                          </a:solidFill>
                          <a:latin typeface="Golos Text" pitchFamily="34" charset="0"/>
                          <a:ea typeface="Golos Text" pitchFamily="34" charset="-122"/>
                          <a:cs typeface="Golos Text" pitchFamily="34" charset="-120"/>
                        </a:rPr>
                        <a:t>75</a:t>
                      </a:r>
                      <a:endParaRPr lang="en-US" sz="1200" dirty="0">
                        <a:latin typeface="Golos Text" charset="0"/>
                        <a:ea typeface="Golos Text" charset="0"/>
                        <a:cs typeface="Golos T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7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11480" y="5349240"/>
            <a:ext cx="10149840" cy="640080"/>
          </a:xfrm>
          <a:prstGeom prst="roundRect">
            <a:avLst>
              <a:gd name="adj" fmla="val 17143"/>
            </a:avLst>
          </a:prstGeom>
          <a:solidFill>
            <a:srgbClr val="00DD00"/>
          </a:solidFill>
          <a:ln/>
        </p:spPr>
      </p:sp>
      <p:sp>
        <p:nvSpPr>
          <p:cNvPr id="10" name="Text 6"/>
          <p:cNvSpPr/>
          <p:nvPr/>
        </p:nvSpPr>
        <p:spPr>
          <a:xfrm>
            <a:off x="640080" y="53492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Шаги 4–5: 552 из 1 211 мин в неделю (46 %) и 10 из 18 ч задержки действия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11480" y="608076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6A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Минуты и частота — таблица части 1 (экспертная оценка), сведены с 10 ч аудита: 380 мин работы + 220 мин ожидания двухчасовки и начала разбора.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0"/>
            <a:ext cx="1051560" cy="6858000"/>
          </a:xfrm>
          <a:prstGeom prst="rect">
            <a:avLst/>
          </a:prstGeom>
          <a:solidFill>
            <a:srgbClr val="41008C"/>
          </a:solidFill>
          <a:ln/>
        </p:spPr>
      </p:sp>
      <p:pic>
        <p:nvPicPr>
          <p:cNvPr id="3" name="Image 0" descr="C:\Users\User1\AppData\Roaming\Claude\local-agent-mode-sessions\skills-plugin\8ef7bff0-8766-413f-811a-33353097c79b\2def231b-836c-444a-8398-f62454ae1964\skills\ns-digital-pptx\assets\ns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48288" y="256032"/>
            <a:ext cx="438912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241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7A6A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11480" y="16459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1008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NS Digital</a:t>
            </a:r>
            <a:pPr indent="0" marL="0">
              <a:buNone/>
            </a:pPr>
            <a:r>
              <a:rPr lang="en-US" sz="3200" dirty="0">
                <a:solidFill>
                  <a:srgbClr val="19003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 / Как будет (To-Be)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11480" y="868680"/>
            <a:ext cx="9966960" cy="0"/>
          </a:xfrm>
          <a:prstGeom prst="line">
            <a:avLst/>
          </a:prstGeom>
          <a:noFill/>
          <a:ln w="9525">
            <a:solidFill>
              <a:srgbClr val="A7A6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9601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9003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ЕЖЕЧАСНЫЙ КОНТРОЛЬ И РАСЧЁТ ПО СОБЫТИЮ; РЕШЕНИЕ ОСТАЁТСЯ ЗА ИНЖЕНЕРОМ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11480" y="1783080"/>
            <a:ext cx="1645920" cy="1143000"/>
          </a:xfrm>
          <a:prstGeom prst="chevron">
            <a:avLst/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783080"/>
            <a:ext cx="1097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1008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Т1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11480" y="30175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9003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Принять и проверить замеры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" y="3703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A6A6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WORKFLOW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12264" y="1783080"/>
            <a:ext cx="1645920" cy="1143000"/>
          </a:xfrm>
          <a:prstGeom prst="chevron">
            <a:avLst/>
          </a:prstGeom>
          <a:solidFill>
            <a:srgbClr val="F2F2F2"/>
          </a:solidFill>
          <a:ln/>
        </p:spPr>
      </p:sp>
      <p:sp>
        <p:nvSpPr>
          <p:cNvPr id="13" name="Text 10"/>
          <p:cNvSpPr/>
          <p:nvPr/>
        </p:nvSpPr>
        <p:spPr>
          <a:xfrm>
            <a:off x="2386584" y="1783080"/>
            <a:ext cx="1097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1008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Т2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112264" y="30175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9003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Обнаружить отклонение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112264" y="3703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A6A6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WORKFLOW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813048" y="1783080"/>
            <a:ext cx="1645920" cy="1143000"/>
          </a:xfrm>
          <a:prstGeom prst="chevron">
            <a:avLst/>
          </a:prstGeom>
          <a:solidFill>
            <a:srgbClr val="00DD00"/>
          </a:solidFill>
          <a:ln/>
        </p:spPr>
      </p:sp>
      <p:sp>
        <p:nvSpPr>
          <p:cNvPr id="17" name="Text 14"/>
          <p:cNvSpPr/>
          <p:nvPr/>
        </p:nvSpPr>
        <p:spPr>
          <a:xfrm>
            <a:off x="4087368" y="1783080"/>
            <a:ext cx="1097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Т3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813048" y="30175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9003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Диагноз: гипотезы + PROSPER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813048" y="3703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1008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АГЕНТ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513832" y="1783080"/>
            <a:ext cx="1645920" cy="1143000"/>
          </a:xfrm>
          <a:prstGeom prst="chevron">
            <a:avLst/>
          </a:prstGeom>
          <a:solidFill>
            <a:srgbClr val="00DD00"/>
          </a:solidFill>
          <a:ln/>
        </p:spPr>
      </p:sp>
      <p:sp>
        <p:nvSpPr>
          <p:cNvPr id="21" name="Text 18"/>
          <p:cNvSpPr/>
          <p:nvPr/>
        </p:nvSpPr>
        <p:spPr>
          <a:xfrm>
            <a:off x="5788152" y="1783080"/>
            <a:ext cx="1097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Т4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5513832" y="30175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9003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Компенсация: наборы + GAP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513832" y="3703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1008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АГЕНТ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214616" y="1783080"/>
            <a:ext cx="1645920" cy="1143000"/>
          </a:xfrm>
          <a:prstGeom prst="chevron">
            <a:avLst/>
          </a:prstGeom>
          <a:solidFill>
            <a:srgbClr val="F2F2F2"/>
          </a:solidFill>
          <a:ln/>
        </p:spPr>
      </p:sp>
      <p:sp>
        <p:nvSpPr>
          <p:cNvPr id="25" name="Text 22"/>
          <p:cNvSpPr/>
          <p:nvPr/>
        </p:nvSpPr>
        <p:spPr>
          <a:xfrm>
            <a:off x="7488936" y="1783080"/>
            <a:ext cx="1097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1008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Т5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7214616" y="30175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9003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Утвердить / вернуть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214616" y="3703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A6A6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ТЕХНОЛОГ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915400" y="1783080"/>
            <a:ext cx="1645920" cy="1143000"/>
          </a:xfrm>
          <a:prstGeom prst="chevron">
            <a:avLst/>
          </a:prstGeom>
          <a:solidFill>
            <a:srgbClr val="F2F2F2"/>
          </a:solidFill>
          <a:ln/>
        </p:spPr>
      </p:sp>
      <p:sp>
        <p:nvSpPr>
          <p:cNvPr id="29" name="Text 26"/>
          <p:cNvSpPr/>
          <p:nvPr/>
        </p:nvSpPr>
        <p:spPr>
          <a:xfrm>
            <a:off x="9189720" y="1783080"/>
            <a:ext cx="1097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1008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Т6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8915400" y="301752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9003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Согласовать с цехом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915400" y="3703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A6A6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НАЧАЛЬНИК ЦДНГ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11480" y="4160520"/>
            <a:ext cx="3246120" cy="17373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3" name="Text 30"/>
          <p:cNvSpPr/>
          <p:nvPr/>
        </p:nvSpPr>
        <p:spPr>
          <a:xfrm>
            <a:off x="548640" y="42245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1008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ЧТО ПЕРЕПРОЕКТИРОВАНО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48640" y="4590288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9003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Сравнение факта с прогнозом — триггер в начале, а не отчёт в конце. Гипотезы и проверка расчётом — один шаг по событию. Расчёт режима отделён от утверждения.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3813048" y="4160520"/>
            <a:ext cx="3246120" cy="17373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6" name="Text 33"/>
          <p:cNvSpPr/>
          <p:nvPr/>
        </p:nvSpPr>
        <p:spPr>
          <a:xfrm>
            <a:off x="3950208" y="42245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1008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КАК РАБОТАЕТ АГЕНТ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3950208" y="4590288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9003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LLM предлагает гипотезы и наборы мероприятий, PROSPER и GAP проверяют их физикой и ограничениями сети, код выбирает лучший допустимый вариант.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7214616" y="4160520"/>
            <a:ext cx="3246120" cy="173736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9" name="Text 36"/>
          <p:cNvSpPr/>
          <p:nvPr/>
        </p:nvSpPr>
        <p:spPr>
          <a:xfrm>
            <a:off x="7351776" y="422452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1008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ОСТАВЛЕНО ЧЕЛОВЕКУ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7351776" y="4590288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9003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Решение по режиму (необратимо, ответственность именная) и согласование с цехом (переговоры, нет программного входа).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411480" y="6035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6A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Агентных шагов 2 из 6. Данные не покидают сеть компании: LLM — GPT-OSS 120B на сервере LM Studio; облачные модели запрещены в конфигурации.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0"/>
            <a:ext cx="1051560" cy="6858000"/>
          </a:xfrm>
          <a:prstGeom prst="rect">
            <a:avLst/>
          </a:prstGeom>
          <a:solidFill>
            <a:srgbClr val="41008C"/>
          </a:solidFill>
          <a:ln/>
        </p:spPr>
      </p:sp>
      <p:pic>
        <p:nvPicPr>
          <p:cNvPr id="3" name="Image 0" descr="C:\Users\User1\AppData\Roaming\Claude\local-agent-mode-sessions\skills-plugin\8ef7bff0-8766-413f-811a-33353097c79b\2def231b-836c-444a-8398-f62454ae1964\skills\ns-digital-pptx\assets\ns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48288" y="256032"/>
            <a:ext cx="438912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241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7A6A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11480" y="16459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1008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NS Digital</a:t>
            </a:r>
            <a:pPr indent="0" marL="0">
              <a:buNone/>
            </a:pPr>
            <a:r>
              <a:rPr lang="en-US" sz="3200" dirty="0">
                <a:solidFill>
                  <a:srgbClr val="19003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 / Метрики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11480" y="868680"/>
            <a:ext cx="9966960" cy="0"/>
          </a:xfrm>
          <a:prstGeom prst="line">
            <a:avLst/>
          </a:prstGeom>
          <a:noFill/>
          <a:ln w="9525">
            <a:solidFill>
              <a:srgbClr val="A7A6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9601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9003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ЗНАЧЕНИЯ «ДО» — ИЗ АУДИТА И ЛИСТА AS-IS; «ПОСЛЕ» — ЗАМЕРЫ ПРОТОТИПА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11480" y="1691640"/>
            <a:ext cx="10149840" cy="7772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6916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003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Обнаружение и расчёт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206240" y="16916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7A6A6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10 ч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6126480" y="1947672"/>
            <a:ext cx="502920" cy="274320"/>
          </a:xfrm>
          <a:prstGeom prst="rightArrow">
            <a:avLst/>
          </a:prstGeom>
          <a:solidFill>
            <a:srgbClr val="00DD00"/>
          </a:solidFill>
          <a:ln/>
        </p:spPr>
      </p:sp>
      <p:sp>
        <p:nvSpPr>
          <p:cNvPr id="12" name="Text 9"/>
          <p:cNvSpPr/>
          <p:nvPr/>
        </p:nvSpPr>
        <p:spPr>
          <a:xfrm>
            <a:off x="6720840" y="16916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1008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≤ 1.5 ч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961120" y="16916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A6A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журнал тактов агента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11480" y="2560320"/>
            <a:ext cx="10149840" cy="7772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25603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003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От обнаружения до действия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206240" y="25603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7A6A6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18 ч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6126480" y="2816352"/>
            <a:ext cx="502920" cy="274320"/>
          </a:xfrm>
          <a:prstGeom prst="rightArrow">
            <a:avLst/>
          </a:prstGeom>
          <a:solidFill>
            <a:srgbClr val="00DD00"/>
          </a:solidFill>
          <a:ln/>
        </p:spPr>
      </p:sp>
      <p:sp>
        <p:nvSpPr>
          <p:cNvPr id="18" name="Text 15"/>
          <p:cNvSpPr/>
          <p:nvPr/>
        </p:nvSpPr>
        <p:spPr>
          <a:xfrm>
            <a:off x="6720840" y="2560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1008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≈ 9.5 ч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8961120" y="25603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A6A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журнал + время решения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11480" y="3429000"/>
            <a:ext cx="10149840" cy="7772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3429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003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Нескомпенсированная нефть на инцидент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206240" y="3429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7A6A6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10.7 т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6126480" y="3685032"/>
            <a:ext cx="502920" cy="274320"/>
          </a:xfrm>
          <a:prstGeom prst="rightArrow">
            <a:avLst/>
          </a:prstGeom>
          <a:solidFill>
            <a:srgbClr val="00DD00"/>
          </a:solidFill>
          <a:ln/>
        </p:spPr>
      </p:sp>
      <p:sp>
        <p:nvSpPr>
          <p:cNvPr id="24" name="Text 21"/>
          <p:cNvSpPr/>
          <p:nvPr/>
        </p:nvSpPr>
        <p:spPr>
          <a:xfrm>
            <a:off x="6720840" y="34290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1008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5.6 т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8961120" y="34290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A6A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потеря темпа × время / 24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11480" y="4297680"/>
            <a:ext cx="10149840" cy="7772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7" name="Text 24"/>
          <p:cNvSpPr/>
          <p:nvPr/>
        </p:nvSpPr>
        <p:spPr>
          <a:xfrm>
            <a:off x="548640" y="42976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003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Время инженера-моделиста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206240" y="42976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7A6A6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552 мин/нед</a:t>
            </a:r>
            <a:endParaRPr lang="en-US" sz="2400" dirty="0"/>
          </a:p>
        </p:txBody>
      </p:sp>
      <p:sp>
        <p:nvSpPr>
          <p:cNvPr id="29" name="Shape 26"/>
          <p:cNvSpPr/>
          <p:nvPr/>
        </p:nvSpPr>
        <p:spPr>
          <a:xfrm>
            <a:off x="6126480" y="4553712"/>
            <a:ext cx="502920" cy="274320"/>
          </a:xfrm>
          <a:prstGeom prst="rightArrow">
            <a:avLst/>
          </a:prstGeom>
          <a:solidFill>
            <a:srgbClr val="00DD00"/>
          </a:solidFill>
          <a:ln/>
        </p:spPr>
      </p:sp>
      <p:sp>
        <p:nvSpPr>
          <p:cNvPr id="30" name="Text 27"/>
          <p:cNvSpPr/>
          <p:nvPr/>
        </p:nvSpPr>
        <p:spPr>
          <a:xfrm>
            <a:off x="6720840" y="42976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1008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только эскалации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961120" y="42976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A6A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очередь эскалаций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11480" y="5303520"/>
            <a:ext cx="10149840" cy="640080"/>
          </a:xfrm>
          <a:prstGeom prst="roundRect">
            <a:avLst>
              <a:gd name="adj" fmla="val 17143"/>
            </a:avLst>
          </a:prstGeom>
          <a:solidFill>
            <a:srgbClr val="00DD00"/>
          </a:solidFill>
          <a:ln/>
        </p:spPr>
      </p:sp>
      <p:sp>
        <p:nvSpPr>
          <p:cNvPr id="33" name="Text 30"/>
          <p:cNvSpPr/>
          <p:nvPr/>
        </p:nvSpPr>
        <p:spPr>
          <a:xfrm>
            <a:off x="640080" y="53035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Проверено: eval-набор 15 из 15; серия пяти прогонов на PetEx — 5 из 5 успешных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411480" y="6035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6A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Серия пяти прогонов — учебные сутки, облачная модель прототипа. Локальная GPT-OSS 120B: пробные вызовы, серия — в shadow.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0"/>
            <a:ext cx="1051560" cy="6858000"/>
          </a:xfrm>
          <a:prstGeom prst="rect">
            <a:avLst/>
          </a:prstGeom>
          <a:solidFill>
            <a:srgbClr val="41008C"/>
          </a:solidFill>
          <a:ln/>
        </p:spPr>
      </p:sp>
      <p:pic>
        <p:nvPicPr>
          <p:cNvPr id="3" name="Image 0" descr="C:\Users\User1\AppData\Roaming\Claude\local-agent-mode-sessions\skills-plugin\8ef7bff0-8766-413f-811a-33353097c79b\2def231b-836c-444a-8398-f62454ae1964\skills\ns-digital-pptx\assets\ns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48288" y="256032"/>
            <a:ext cx="438912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241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7A6A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11480" y="16459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1008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NS Digital</a:t>
            </a:r>
            <a:pPr indent="0" marL="0">
              <a:buNone/>
            </a:pPr>
            <a:r>
              <a:rPr lang="en-US" sz="3200" dirty="0">
                <a:solidFill>
                  <a:srgbClr val="19003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 / Запуск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11480" y="868680"/>
            <a:ext cx="9966960" cy="0"/>
          </a:xfrm>
          <a:prstGeom prst="line">
            <a:avLst/>
          </a:prstGeom>
          <a:noFill/>
          <a:ln w="9525">
            <a:solidFill>
              <a:srgbClr val="A7A6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9601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9003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ПИЛОТ: ОДИН КУСТ BEL_PROD (16 СКВАЖИН), 6 НЕДЕЛЬ, БЕЗ ИСПОЛНЕНИЯ УСТАВОК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11480" y="1737360"/>
            <a:ext cx="3291840" cy="822960"/>
          </a:xfrm>
          <a:prstGeom prst="chevron">
            <a:avLst/>
          </a:prstGeom>
          <a:solidFill>
            <a:srgbClr val="00DD00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737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SHADOW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11480" y="26517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A6A6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2 НЕДЕЛИ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29718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9003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Агент считает по реальным данным, инженер работает как раньше, решения сравниваются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11480" y="4023360"/>
            <a:ext cx="3200400" cy="0"/>
          </a:xfrm>
          <a:prstGeom prst="line">
            <a:avLst/>
          </a:prstGeom>
          <a:noFill/>
          <a:ln w="9525">
            <a:solidFill>
              <a:srgbClr val="A7A6A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41148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1008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Переход дальше: </a:t>
            </a:r>
            <a:pPr indent="0" marL="0">
              <a:buNone/>
            </a:pPr>
            <a:r>
              <a:rPr lang="en-US" sz="1100" dirty="0">
                <a:solidFill>
                  <a:srgbClr val="19003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≥ 10 инцидентов; ≥ 80 % с готовым предложением; главная причина совпала в ≥ 70 %; 0 нарушений ограничений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813048" y="1737360"/>
            <a:ext cx="3291840" cy="822960"/>
          </a:xfrm>
          <a:prstGeom prst="chevron">
            <a:avLst/>
          </a:prstGeom>
          <a:solidFill>
            <a:srgbClr val="F2F2F2"/>
          </a:solidFill>
          <a:ln/>
        </p:spPr>
      </p:sp>
      <p:sp>
        <p:nvSpPr>
          <p:cNvPr id="15" name="Text 12"/>
          <p:cNvSpPr/>
          <p:nvPr/>
        </p:nvSpPr>
        <p:spPr>
          <a:xfrm>
            <a:off x="4133088" y="1737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1008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HITL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813048" y="26517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A6A6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4 НЕДЕЛИ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813048" y="29718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9003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Предложения идут технологу на утверждение, затем согласование с цехом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813048" y="4023360"/>
            <a:ext cx="3200400" cy="0"/>
          </a:xfrm>
          <a:prstGeom prst="line">
            <a:avLst/>
          </a:prstGeom>
          <a:noFill/>
          <a:ln w="9525">
            <a:solidFill>
              <a:srgbClr val="A7A6A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13048" y="41148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1008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Переход дальше: </a:t>
            </a:r>
            <a:pPr indent="0" marL="0">
              <a:buNone/>
            </a:pPr>
            <a:r>
              <a:rPr lang="en-US" sz="1100" dirty="0">
                <a:solidFill>
                  <a:srgbClr val="19003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≥ 20 утверждённых; ≥ 70 % без переделки; факт в пределах прогноза ±5 %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214616" y="1737360"/>
            <a:ext cx="3291840" cy="822960"/>
          </a:xfrm>
          <a:prstGeom prst="chevron">
            <a:avLst/>
          </a:prstGeom>
          <a:solidFill>
            <a:srgbClr val="F2F2F2"/>
          </a:solidFill>
          <a:ln/>
        </p:spPr>
      </p:sp>
      <p:sp>
        <p:nvSpPr>
          <p:cNvPr id="21" name="Text 18"/>
          <p:cNvSpPr/>
          <p:nvPr/>
        </p:nvSpPr>
        <p:spPr>
          <a:xfrm>
            <a:off x="7534656" y="1737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1008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AUTONOMOUS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214616" y="26517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A6A6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ОГРАНИЧЕННЫЙ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214616" y="29718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9003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Агент ведёт контур до предложения и ставит задачу после утверждения; режим решает технолог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214616" y="4023360"/>
            <a:ext cx="3200400" cy="0"/>
          </a:xfrm>
          <a:prstGeom prst="line">
            <a:avLst/>
          </a:prstGeom>
          <a:noFill/>
          <a:ln w="9525">
            <a:solidFill>
              <a:srgbClr val="A7A6A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214616" y="41148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9003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Откат в HITL: расхождение с прогнозом &gt; 10 % дважды за неделю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11480" y="5440680"/>
            <a:ext cx="10149840" cy="640080"/>
          </a:xfrm>
          <a:prstGeom prst="roundRect">
            <a:avLst>
              <a:gd name="adj" fmla="val 17143"/>
            </a:avLst>
          </a:prstGeom>
          <a:solidFill>
            <a:srgbClr val="00DD00"/>
          </a:solidFill>
          <a:ln/>
        </p:spPr>
      </p:sp>
      <p:sp>
        <p:nvSpPr>
          <p:cNvPr id="27" name="Text 24"/>
          <p:cNvSpPr/>
          <p:nvPr/>
        </p:nvSpPr>
        <p:spPr>
          <a:xfrm>
            <a:off x="640080" y="54406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Немедленная остановка: данные за контуром, запись без утверждения, 2 рекомендации с нарушением ограничений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11480" y="61264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6A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Ответственный за починку — инженер-моделист, вторая линия — руководитель группы моделирования и оптимизации; риски и мониторинг — паспорт, Р7.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0"/>
            <a:ext cx="1051560" cy="6858000"/>
          </a:xfrm>
          <a:prstGeom prst="rect">
            <a:avLst/>
          </a:prstGeom>
          <a:solidFill>
            <a:srgbClr val="41008C"/>
          </a:solidFill>
          <a:ln/>
        </p:spPr>
      </p:sp>
      <p:pic>
        <p:nvPicPr>
          <p:cNvPr id="3" name="Image 0" descr="C:\Users\User1\AppData\Roaming\Claude\local-agent-mode-sessions\skills-plugin\8ef7bff0-8766-413f-811a-33353097c79b\2def231b-836c-444a-8398-f62454ae1964\skills\ns-digital-pptx\assets\ns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48288" y="256032"/>
            <a:ext cx="438912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2416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7A6A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11480" y="16459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1008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NS Digital</a:t>
            </a:r>
            <a:pPr indent="0" marL="0">
              <a:buNone/>
            </a:pPr>
            <a:r>
              <a:rPr lang="en-US" sz="3200" dirty="0">
                <a:solidFill>
                  <a:srgbClr val="19003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 / Стоимость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11480" y="868680"/>
            <a:ext cx="9966960" cy="0"/>
          </a:xfrm>
          <a:prstGeom prst="line">
            <a:avLst/>
          </a:prstGeom>
          <a:noFill/>
          <a:ln w="9525">
            <a:solidFill>
              <a:srgbClr val="A7A6A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9601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9003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УСПЕШНЫЙ РЕЗУЛЬТАТ ПОЧТИ БЕСПЛАТЕН — ОЖИДАНИЕ СТОИТ ≈ 100 ТЫС. РУБ НА ИНЦИДЕНТ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11480" y="17373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D00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≈ 100 тыс. руб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3749040" y="17373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9003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сохранённой нефти на инцидент: ≈ 5 т, время до действия 18 ч → ≈ 9.5 ч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29260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1008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0 руб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3749040" y="29260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9003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LLM в контуре: сервер LM Studio и лицензия PetEx уже есть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11480" y="41148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1008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≈ 20 руб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3749040" y="41148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9003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стоимость успешного результата облачной LLM для сравнения ($0.23, 5 из 5) — облако запрещено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040880" y="1737360"/>
            <a:ext cx="3520440" cy="342900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Text 12"/>
          <p:cNvSpPr/>
          <p:nvPr/>
        </p:nvSpPr>
        <p:spPr>
          <a:xfrm>
            <a:off x="722376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1008C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ЗАТРАТЫ НА ИНЦИДЕНТ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223760" y="224028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9003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2–3 вызова LLM, 11–19 мин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9003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4 запуска GAP, до 2 PROSPER, 5–8 мин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9003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такт с инцидентом 17–25 мин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9003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41008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ПОТОЛКИ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9003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20 вызовов LLM и 30 GAP в сутки, $1.5 в сутки, такт 45 мин; после потолка агент стоит до разбора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11480" y="5440680"/>
            <a:ext cx="10149840" cy="640080"/>
          </a:xfrm>
          <a:prstGeom prst="roundRect">
            <a:avLst>
              <a:gd name="adj" fmla="val 17143"/>
            </a:avLst>
          </a:prstGeom>
          <a:solidFill>
            <a:srgbClr val="00DD00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54406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olos Text DemiBold" pitchFamily="34" charset="0"/>
                <a:ea typeface="Golos Text DemiBold" pitchFamily="34" charset="-122"/>
                <a:cs typeface="Golos Text DemiBold" pitchFamily="34" charset="-120"/>
              </a:rPr>
              <a:t>Почему не оставить как есть: каждый инцидент — ≈ 5 т нефти (≈ 100 тыс. руб), потерянных за 8.5 лишних часов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11480" y="61264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6A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Расчёт на учебном кейсе (потеря 14.2 т/сут, 20 000 руб/т); 8 ч после расчёта оставлены без изменений — осторожная оценка.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Агент контроля добычи куста</dc:title>
  <dc:subject>PptxGenJS Presentation</dc:subject>
  <dc:creator>PptxGenJS</dc:creator>
  <cp:lastModifiedBy>PptxGenJS</cp:lastModifiedBy>
  <cp:revision>1</cp:revision>
  <dcterms:created xsi:type="dcterms:W3CDTF">2026-09-29T09:28:22Z</dcterms:created>
  <dcterms:modified xsi:type="dcterms:W3CDTF">2026-09-29T09:28:22Z</dcterms:modified>
</cp:coreProperties>
</file>