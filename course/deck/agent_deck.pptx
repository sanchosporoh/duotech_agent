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1\AppData\Roaming\Claude\local-agent-mode-sessions\skills-plugin\8ef7bff0-8766-413f-811a-33353097c79b\2def231b-836c-444a-8398-f62454ae1964\skills\ns-digital-pptx\assets\ns_digital_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2194560" cy="5669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331720"/>
            <a:ext cx="12188952" cy="2514600"/>
          </a:xfrm>
          <a:prstGeom prst="rect">
            <a:avLst/>
          </a:prstGeom>
          <a:solidFill>
            <a:srgbClr val="3C3C3C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2423160"/>
            <a:ext cx="7498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КОНТРОЛЯ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ДОБЫЧИ КУСТА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48640" y="402336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Недобор нефти найден и рассчитан за 1.5 часа вместо 10</a:t>
            </a:r>
            <a:endParaRPr lang="en-US" sz="1800" dirty="0"/>
          </a:p>
        </p:txBody>
      </p:sp>
      <p:pic>
        <p:nvPicPr>
          <p:cNvPr id="6" name="Image 1" descr="C:\Users\User1\AppData\Roaming\Claude\local-agent-mode-sessions\skills-plugin\8ef7bff0-8766-413f-811a-33353097c79b\2def231b-836c-444a-8398-f62454ae1964\skills\ns-digital-pptx\assets\lineart_refinery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r="0" t="0" b="0"/>
          <a:stretch/>
        </p:blipFill>
        <p:spPr>
          <a:xfrm>
            <a:off x="8138160" y="822960"/>
            <a:ext cx="3749040" cy="5486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Паспорт агента · Блок 3 «Agentic Workflow» · октябрь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Проблема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НЕДОБОР ЗАМЕЧАЮТ И СЧИТАЮТ ВРУЧНУЮ — КОМПЕНСАЦИЯ НАЧИНАЕТСЯ ЧЕРЕЗ 18 ЧАСОВ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ч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4864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обнаружения отклонения до действия на скважинах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97180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2" name="Text 9"/>
          <p:cNvSpPr/>
          <p:nvPr/>
        </p:nvSpPr>
        <p:spPr>
          <a:xfrm>
            <a:off x="310896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ч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310896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них — обнаружение отклонения и ручной расчёт в PetEx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53212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D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 т</a:t>
            </a:r>
            <a:endParaRPr lang="en-US" sz="4000" dirty="0"/>
          </a:p>
        </p:txBody>
      </p:sp>
      <p:sp>
        <p:nvSpPr>
          <p:cNvPr id="16" name="Text 13"/>
          <p:cNvSpPr/>
          <p:nvPr/>
        </p:nvSpPr>
        <p:spPr>
          <a:xfrm>
            <a:off x="566928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нескомпенсированной нефти на один инцидент — 213 тыс. руб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09244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8" name="Text 15"/>
          <p:cNvSpPr/>
          <p:nvPr/>
        </p:nvSpPr>
        <p:spPr>
          <a:xfrm>
            <a:off x="822960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552 мин</a:t>
            </a:r>
            <a:endParaRPr lang="en-US" sz="4000" dirty="0"/>
          </a:p>
        </p:txBody>
      </p:sp>
      <p:sp>
        <p:nvSpPr>
          <p:cNvPr id="19" name="Text 16"/>
          <p:cNvSpPr/>
          <p:nvPr/>
        </p:nvSpPr>
        <p:spPr>
          <a:xfrm>
            <a:off x="822960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неделю инженера-моделиста на проверке гипотез и расчёте режима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11480" y="566928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56692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Потеря нефти растёт каждый час, пока отклонение ждёт человека и ручного расчёта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11480" y="63550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отчёт по диагностическому аудиту бизнес-процессов Заказчика (18 ч / 10 ч). Нефть — расчёт на учебном кейсе: потеря 14.2 т/сут × 18 ч / 24, 20 000 руб/т.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Как сейчас (As-Is)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УЗКОЕ МЕСТО — РУЧНАЯ ПРОВЕРКА ГИПОТЕЗ И РАСЧЁТ РЕЖИМА: 46 % ВРЕМЕНИ</a:t>
            </a:r>
            <a:endParaRPr lang="en-US" sz="1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014984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4572000"/>
                <a:gridCol w="1828800"/>
                <a:gridCol w="731520"/>
                <a:gridCol w="105156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№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Шаг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Кто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Мин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Раз / нед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Потеря, мин / нед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Двухчасовка с добычей по сепаратору — отклонение видно только при просмотре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регламент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Выгрузить телеметрию и замеры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инженер, скрипт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Отбраковать замеры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скрипт + инженер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Сформулировать гипотезы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технолог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Проверить гипотезы расчётом в ИМА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инженер-моделист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Рассчитать режим куста и утвердить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моделист, технолог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Согласовать с цехом, внести уставки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начальник ЦДНГ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Сравнить факт с прогнозом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скрипт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11480" y="534924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10" name="Text 6"/>
          <p:cNvSpPr/>
          <p:nvPr/>
        </p:nvSpPr>
        <p:spPr>
          <a:xfrm>
            <a:off x="640080" y="534924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Шаги 4–5: 552 из 1 211 мин в неделю (46 %) и 10 из 18 ч задержки действия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11480" y="608076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Минуты и частота — таблица части 1 (экспертная оценка), сведены с 10 ч аудита: 380 мин работы + 220 мин ожидания двухчасовки и начала разбора.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Как будет (To-Be)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ЕЖЕЧАСНЫЙ КОНТРОЛЬ И РАСЧЁТ ПО СОБЫТИЮ; РЕШЕНИЕ ОСТАЁТСЯ ЗА ИНЖЕНЕРОМ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411480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Принять и проверить замеры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11480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112264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13" name="Text 10"/>
          <p:cNvSpPr/>
          <p:nvPr/>
        </p:nvSpPr>
        <p:spPr>
          <a:xfrm>
            <a:off x="2386584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2112264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Обнаружить отклонение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2112264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813048" y="1783080"/>
            <a:ext cx="1645920" cy="1143000"/>
          </a:xfrm>
          <a:prstGeom prst="chevron">
            <a:avLst/>
          </a:prstGeom>
          <a:solidFill>
            <a:srgbClr val="00DD00"/>
          </a:solidFill>
          <a:ln/>
        </p:spPr>
      </p:sp>
      <p:sp>
        <p:nvSpPr>
          <p:cNvPr id="17" name="Text 14"/>
          <p:cNvSpPr/>
          <p:nvPr/>
        </p:nvSpPr>
        <p:spPr>
          <a:xfrm>
            <a:off x="4087368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Т3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3813048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Диагноз: гипотезы + PROSPER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813048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513832" y="1783080"/>
            <a:ext cx="1645920" cy="1143000"/>
          </a:xfrm>
          <a:prstGeom prst="chevron">
            <a:avLst/>
          </a:prstGeom>
          <a:solidFill>
            <a:srgbClr val="00DD00"/>
          </a:solidFill>
          <a:ln/>
        </p:spPr>
      </p:sp>
      <p:sp>
        <p:nvSpPr>
          <p:cNvPr id="21" name="Text 18"/>
          <p:cNvSpPr/>
          <p:nvPr/>
        </p:nvSpPr>
        <p:spPr>
          <a:xfrm>
            <a:off x="5788152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Т4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5513832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Компенсация: наборы + GAP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513832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214616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25" name="Text 22"/>
          <p:cNvSpPr/>
          <p:nvPr/>
        </p:nvSpPr>
        <p:spPr>
          <a:xfrm>
            <a:off x="7488936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Т5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214616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Утвердить / вернуть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214616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915400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29" name="Text 26"/>
          <p:cNvSpPr/>
          <p:nvPr/>
        </p:nvSpPr>
        <p:spPr>
          <a:xfrm>
            <a:off x="9189720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Т6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8915400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Согласовать с цехом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915400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НАЧАЛЬНИК ЦДНГ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11480" y="4160520"/>
            <a:ext cx="3246120" cy="17373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3" name="Text 30"/>
          <p:cNvSpPr/>
          <p:nvPr/>
        </p:nvSpPr>
        <p:spPr>
          <a:xfrm>
            <a:off x="548640" y="42245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ПЕРЕПРОЕКТИРОВАНО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548640" y="4590288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факта с прогнозом — триггер в начале, а не отчёт в конце. Гипотезы и проверка расчётом — один шаг по событию. Расчёт режима отделён от утверждения.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3813048" y="4160520"/>
            <a:ext cx="3246120" cy="17373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6" name="Text 33"/>
          <p:cNvSpPr/>
          <p:nvPr/>
        </p:nvSpPr>
        <p:spPr>
          <a:xfrm>
            <a:off x="3950208" y="42245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РАБОТАЕТ АГЕНТ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3950208" y="4590288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предлагает гипотезы и наборы мероприятий, PROSPER и GAP проверяют их физикой и ограничениями сети, код выбирает лучший допустимый вариант.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7214616" y="4160520"/>
            <a:ext cx="3246120" cy="17373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9" name="Text 36"/>
          <p:cNvSpPr/>
          <p:nvPr/>
        </p:nvSpPr>
        <p:spPr>
          <a:xfrm>
            <a:off x="7351776" y="42245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ОСТАВЛЕНО ЧЕЛОВЕКУ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7351776" y="4590288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по режиму (необратимо, ответственность именная) и согласование с цехом (переговоры, нет программного входа).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411480" y="60350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Агентных шагов 2 из 6. Данные не покидают сеть компании: LLM — GPT-OSS 120B на сервере LM Studio; облачные модели запрещены в конфигурации.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Метрики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ЗНАЧЕНИЯ «ДО» — ИЗ АУДИТА И ЛИСТА AS-IS; «ПОСЛЕ» — ЗАМЕРЫ ПРОТОТИПА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69164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6916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Обнаружение и расчёт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206240" y="16916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ч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6126480" y="194767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12" name="Text 9"/>
          <p:cNvSpPr/>
          <p:nvPr/>
        </p:nvSpPr>
        <p:spPr>
          <a:xfrm>
            <a:off x="6720840" y="1691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1.5 ч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8961120" y="16916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журнал тактов агента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11480" y="256032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25603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обнаружения до действия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206240" y="25603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ч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6126480" y="281635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18" name="Text 15"/>
          <p:cNvSpPr/>
          <p:nvPr/>
        </p:nvSpPr>
        <p:spPr>
          <a:xfrm>
            <a:off x="6720840" y="25603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9.5 ч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8961120" y="256032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журнал + время решения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11480" y="342900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342900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Нескомпенсированная нефть на инцидент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206240" y="342900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 т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6126480" y="368503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24" name="Text 21"/>
          <p:cNvSpPr/>
          <p:nvPr/>
        </p:nvSpPr>
        <p:spPr>
          <a:xfrm>
            <a:off x="6720840" y="34290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 т</a:t>
            </a:r>
            <a:endParaRPr lang="en-US" sz="2400" dirty="0"/>
          </a:p>
        </p:txBody>
      </p:sp>
      <p:sp>
        <p:nvSpPr>
          <p:cNvPr id="25" name="Text 22"/>
          <p:cNvSpPr/>
          <p:nvPr/>
        </p:nvSpPr>
        <p:spPr>
          <a:xfrm>
            <a:off x="8961120" y="34290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потеря темпа × время / 24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11480" y="429768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42976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Время инженера-моделиста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4206240" y="42976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552 мин/нед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6126480" y="455371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30" name="Text 27"/>
          <p:cNvSpPr/>
          <p:nvPr/>
        </p:nvSpPr>
        <p:spPr>
          <a:xfrm>
            <a:off x="6720840" y="42976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эскалации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8961120" y="429768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очередь эскалаций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11480" y="530352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33" name="Text 30"/>
          <p:cNvSpPr/>
          <p:nvPr/>
        </p:nvSpPr>
        <p:spPr>
          <a:xfrm>
            <a:off x="640080" y="530352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Проверено: eval-набор 15 из 15; серия пяти прогонов на своём сервере — 3 из 5, облачная — 5 из 5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11480" y="60350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Учебные сутки, настоящий PetEx. Своя модель: неудачи — тайм-аут на такте с двумя инцидентами и обрыв VPN, не неверный ответ; ≈ 3.8 ₽ за успешный результат.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Запуск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01.12.2026–25.01.2027: 7 КУСТОВ, ~105 СКВАЖИН, ~1 ИНЦИДЕНТ В СУТКИ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737360"/>
            <a:ext cx="3291840" cy="822960"/>
          </a:xfrm>
          <a:prstGeom prst="chevron">
            <a:avLst/>
          </a:prstGeom>
          <a:solidFill>
            <a:srgbClr val="00DD00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411480" y="26517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НЕДЕЛИ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11480" y="29718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считает по реальным данным, инженер работает как раньше, решения сравниваются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11480" y="4023360"/>
            <a:ext cx="320040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11480" y="41148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Переход дальше: </a:t>
            </a:r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10 инцидентов; 80 % — готовое предложение; причина совпала в 70 %; 0 нарушений ограничений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813048" y="1737360"/>
            <a:ext cx="3291840" cy="82296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4133088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HITL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3813048" y="26517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НЕДЕЛИ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813048" y="29718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Предложения идут технологу на утверждение, затем согласование с цехом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3813048" y="4023360"/>
            <a:ext cx="320040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813048" y="41148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Переход дальше: </a:t>
            </a:r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20 утверждённых; ≥ 70 % без переделки; факт в пределах прогноза ±5 %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214616" y="1737360"/>
            <a:ext cx="3291840" cy="82296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7214616" y="26517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ОГРАНИЧЕННЫЙ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214616" y="29718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ведёт контур до предложения и ставит задачу после утверждения; режим решает технолог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214616" y="4023360"/>
            <a:ext cx="320040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214616" y="41148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Откат в HITL: расхождение с прогнозом &gt; 10 % дважды за неделю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11480" y="544068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27" name="Text 24"/>
          <p:cNvSpPr/>
          <p:nvPr/>
        </p:nvSpPr>
        <p:spPr>
          <a:xfrm>
            <a:off x="640080" y="54406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Немедленная остановка: данные за контуром, запись без утверждения, 2 рекомендации с нарушением ограничений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411480" y="61264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Ответственный за починку — инженер-моделист ЦУД (круглосуточно), вторая линия — руководитель группы моделирования и оптимизации; риски и мониторинг — паспорт, Р7.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Стоимость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ОКУПАЕТСЯ ПРИ ≥ 11.5 Т НЕФТИ НА КУСТ В ГОД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11480" y="173736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D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100 тыс. руб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3749040" y="17373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сохранённой нефти на инцидент учебного кейса: ≈ 5 т, время до действия 18 ч → ≈ 9.5 ч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11480" y="29260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1.9 млн ₽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3749040" y="29260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на 7 кустах: внедрение системы, месторождения и кустов + время людей; для Заказчика бесплатно, железо — нынешний сервер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11480" y="41148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млн ₽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3749040" y="41148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кустов, 3 месторождения, первый год: железо 2 млн, внедрение 9 млн, сопровождение 12 млн; дальше ≈ 12.4 млн ₽ в год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040880" y="1737360"/>
            <a:ext cx="3520440" cy="34290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722376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 ОКУПАЕМОСТИ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223760" y="2240280"/>
            <a:ext cx="32004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год: 23 млн ₽ ÷ 100 кустов ≈ 11.5 т нефти на куст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следующие годы: ≈ 6.2 т на куст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инцидент типичной скважины (60 м³/сут, 30 % воды) — ≈ 10.9 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ПОТОЛКИ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вызовов LLM и 30 GAP в сутки, $1.5 в сутки, такт 45 мин; после потолка агент стоит до разбора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1480" y="544068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54406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не оставить как есть: инцидент на типичной скважине — ≈ 10.9 т нефти (≈ 218 тыс. руб), потерянных за 8.5 лишних часов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11480" y="61264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Учебный кейс: потеря 14.2 т/сут, 20 000 руб/т, 8 ч после расчёта без изменений. Типичная скважина 60 м³/сут, 30 % воды — оценка. Внедрение и сопровождение — оценка; эффект в год даст пилот.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Агент контроля добычи куста</dc:title>
  <dc:subject>PptxGenJS Presentation</dc:subject>
  <dc:creator>PptxGenJS</dc:creator>
  <cp:lastModifiedBy>PptxGenJS</cp:lastModifiedBy>
  <cp:revision>1</cp:revision>
  <dcterms:created xsi:type="dcterms:W3CDTF">2026-10-10T04:57:02Z</dcterms:created>
  <dcterms:modified xsi:type="dcterms:W3CDTF">2026-10-10T04:57:02Z</dcterms:modified>
</cp:coreProperties>
</file>